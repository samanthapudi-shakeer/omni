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8343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A294-89DA-1596-D2D5-E6C4D7F9C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3BE18-A6DF-A547-3700-545BAEE875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2F8EB-FA08-C18C-D2F5-1B75146D3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1C179-C7F6-4E85-DFED-CE59F259D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B78D2-385C-DF7E-7D9A-A863ADFCA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6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A8A7-1B14-3C4F-371D-47975ABCD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23BE8-06A4-6C32-F1E7-8F56F2FE6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064A1-6FE2-6D3D-2CA9-AC17A21ED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2944C-F23C-A1B1-451D-A41049799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529C-6B8F-875E-ACB0-DBA1B1F6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8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1C4A0-6BD4-0B44-540B-ACBEAA79F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EE7D6-FBE7-7C33-7830-F70CB048F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82339-6F10-4BE0-3372-84DF76412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526D6-A89A-86DF-BF75-E21AFE89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569E8-046F-59E2-B938-E864D9E5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341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1CCF-45BE-F843-19EC-5DF82D104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9CB02-5948-897C-7B79-518C597F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6396A-2199-AC0C-B92F-D5C2D2D4B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0E32A-F705-AC2E-2640-913E0FAE7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26335-D02E-8736-CA88-24F0C66AA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FB8CF-7915-C507-DF0A-B270C0C3A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39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5E36-CE4A-A6E2-53F4-3991B3263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78717-06FF-D25A-A0D9-D65FDED72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C1EE-91E9-E1EB-5BBC-6712BEFC84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3A019-0FB2-66E9-1CC4-97EDFCF6C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82289-7DB4-02E2-DFE5-7280B1587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D9949-C866-A650-3DAD-CCE1FE5D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E8961A-132D-F989-D725-F6C36ACC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E4D7E-1557-5303-2EDD-160696FA1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71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44A90-AB2E-CAE8-78A8-84CDC171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1E961-0FDB-47AC-5FDC-D13F53A8F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4C430-D4DD-2A5D-7D61-81EDD575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209EA-1187-FA52-BBCE-833F394D1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62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3835A6-763A-0F0E-CA7C-D7FF27338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D2713B-A537-B3C0-6470-E90D19C3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D84B1-7D65-12C8-91E3-74337C99D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71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EAE03-D01E-F583-64F9-72F398B3B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D4DDB-169E-F1FD-9C56-574D9AB84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C4ED6-82D5-4A0C-4014-52F07E403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BE92D-8922-391A-E9CC-4E73748B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E81F5-7B5E-AC08-0D49-07B0CC4A5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B388E-CF5E-E820-8BFF-6E0A3CF8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884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F0A7-5529-C2C4-1C6D-F07FD830F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55A25-6285-0242-3C31-F977AC5784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4ADFFB-D576-711A-E8FF-A26F4BF14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05DAE-7676-D3D8-DE0E-31D8682D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3E7C7E-9579-B5CE-018E-627BFE10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A161-9B0C-1237-C350-DB3A2E28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291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41BBE-3CD9-CDFE-538A-5B2343C9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9F74A-2E50-E876-F43F-CCA621FB9D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3D924-D328-5FF0-149F-E5C01A26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A3A6B-21AB-55B6-61B3-0EDBB70EC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20606-39CC-02F2-395F-3E96F9C12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37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C78256-180C-1537-B6D2-2B2AEB23F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6F983-0B5E-DCA8-6A7C-842722214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3C0AF-0860-CBE3-B6C2-0C62876D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65728-FB58-45EE-8862-FFFBF6D0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8EB69-661F-30C6-8B56-5808ECB8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20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8" name="テキスト プレースホルダー 5"/>
          <p:cNvSpPr>
            <a:spLocks noGrp="1"/>
          </p:cNvSpPr>
          <p:nvPr>
            <p:ph type="body" sz="quarter" idx="14"/>
          </p:nvPr>
        </p:nvSpPr>
        <p:spPr>
          <a:xfrm>
            <a:off x="468000" y="1802111"/>
            <a:ext cx="11244575" cy="588211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00">
                <a:latin typeface="+mn-lt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45765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n-lt"/>
                <a:ea typeface="+mj-ea"/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9"/>
          </p:nvPr>
        </p:nvSpPr>
        <p:spPr>
          <a:xfrm>
            <a:off x="-5713" y="763772"/>
            <a:ext cx="12197713" cy="76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468000" tIns="180000" rIns="468000" bIns="18000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600" b="1">
                <a:solidFill>
                  <a:schemeClr val="bg1"/>
                </a:solidFill>
                <a:latin typeface="+mn-lt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テキストの書式設定</a:t>
            </a:r>
          </a:p>
        </p:txBody>
      </p:sp>
      <p:sp>
        <p:nvSpPr>
          <p:cNvPr id="10" name="スライド番号プレースホルダー 2"/>
          <p:cNvSpPr txBox="1">
            <a:spLocks/>
          </p:cNvSpPr>
          <p:nvPr userDrawn="1"/>
        </p:nvSpPr>
        <p:spPr>
          <a:xfrm>
            <a:off x="11638340" y="6430902"/>
            <a:ext cx="416981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marL="0" algn="r" defTabSz="914228" rtl="0" eaLnBrk="1" latinLnBrk="0" hangingPunct="1">
              <a:defRPr kumimoji="0" lang="ja-JP" altLang="en-US" sz="1100" kern="1200" smtClean="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hangingPunct="0">
              <a:tabLst>
                <a:tab pos="568218" algn="ctr"/>
                <a:tab pos="857089" algn="l"/>
                <a:tab pos="1088820" algn="l"/>
              </a:tabLst>
            </a:pPr>
            <a:fld id="{C0A530F1-D8C6-4A93-9917-2C1FE34DC798}" type="slidenum">
              <a:rPr lang="en-US" altLang="ja-JP" smtClean="0">
                <a:latin typeface="+mn-lt"/>
                <a:ea typeface="+mn-ea"/>
                <a:cs typeface="Segoe UI" panose="020B0502040204020203" pitchFamily="34" charset="0"/>
              </a:rPr>
              <a:pPr eaLnBrk="0" hangingPunct="0">
                <a:tabLst>
                  <a:tab pos="568218" algn="ctr"/>
                  <a:tab pos="857089" algn="l"/>
                  <a:tab pos="1088820" algn="l"/>
                </a:tabLst>
              </a:pPr>
              <a:t>‹#›</a:t>
            </a:fld>
            <a:endParaRPr lang="en-US" altLang="ja-JP">
              <a:latin typeface="+mn-l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2" name="フッター プレースホルダー 3"/>
          <p:cNvSpPr txBox="1">
            <a:spLocks/>
          </p:cNvSpPr>
          <p:nvPr userDrawn="1"/>
        </p:nvSpPr>
        <p:spPr bwMode="auto">
          <a:xfrm>
            <a:off x="8769461" y="6557529"/>
            <a:ext cx="2943114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>
                <a:solidFill>
                  <a:srgbClr val="000000"/>
                </a:solidFill>
                <a:effectLst/>
                <a:latin typeface="+mn-ea"/>
                <a:ea typeface="Segoe UI" pitchFamily="34" charset="0"/>
                <a:cs typeface="Segoe UI" pitchFamily="34" charset="0"/>
              </a:rPr>
              <a:t>© 2026 Toshiba Electronic Devices &amp; Storage Corporation </a:t>
            </a:r>
            <a:endParaRPr kumimoji="0" lang="ja-JP" altLang="ja-JP" sz="800" kern="1200">
              <a:solidFill>
                <a:srgbClr val="000000"/>
              </a:solidFill>
              <a:effectLst/>
              <a:latin typeface="+mn-ea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1" name="フッター プレースホルダー 3"/>
          <p:cNvSpPr txBox="1">
            <a:spLocks/>
          </p:cNvSpPr>
          <p:nvPr userDrawn="1"/>
        </p:nvSpPr>
        <p:spPr bwMode="auto">
          <a:xfrm>
            <a:off x="8769461" y="6703527"/>
            <a:ext cx="2943114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ja-JP" sz="800" kern="1200">
                <a:solidFill>
                  <a:srgbClr val="000000"/>
                </a:solidFill>
                <a:effectLst/>
                <a:latin typeface="+mn-ea"/>
                <a:ea typeface="Segoe UI" pitchFamily="34" charset="0"/>
                <a:cs typeface="Segoe UI" pitchFamily="34" charset="0"/>
              </a:rPr>
              <a:t>Confidential</a:t>
            </a:r>
            <a:endParaRPr kumimoji="0" lang="ja-JP" altLang="ja-JP" sz="800" kern="1200">
              <a:solidFill>
                <a:srgbClr val="000000"/>
              </a:solidFill>
              <a:effectLst/>
              <a:latin typeface="+mn-ea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0548FE-8C4B-8D0D-13AB-0099D8BCF7C4}"/>
              </a:ext>
            </a:extLst>
          </p:cNvPr>
          <p:cNvSpPr txBox="1"/>
          <p:nvPr userDrawn="1"/>
        </p:nvSpPr>
        <p:spPr>
          <a:xfrm>
            <a:off x="-1" y="6572918"/>
            <a:ext cx="17491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800"/>
              <a:t>（秘）開示範囲</a:t>
            </a:r>
            <a:r>
              <a:rPr kumimoji="1" lang="en-US" altLang="ja-JP" sz="800"/>
              <a:t>: (TDSC)</a:t>
            </a:r>
            <a:r>
              <a:rPr kumimoji="1" lang="ja-JP" altLang="en-US" sz="800"/>
              <a:t>グループ限り</a:t>
            </a:r>
          </a:p>
        </p:txBody>
      </p:sp>
    </p:spTree>
    <p:extLst>
      <p:ext uri="{BB962C8B-B14F-4D97-AF65-F5344CB8AC3E}">
        <p14:creationId xmlns:p14="http://schemas.microsoft.com/office/powerpoint/2010/main" val="317050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F0B8C-8217-82D9-8CF7-95BD90357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B9092B-C13F-2048-84D9-8D25BA7611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74723-3538-C3DC-6459-2FC98D02C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1476D-919C-4476-91B9-65B0F6F3B897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87A0B-2080-6313-AD8B-1737E5BCA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3565B-ABFD-B768-4B02-36C3D5FC3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36440-AF32-4E7F-BDA6-FA279C4C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2062A-A0B0-F6B5-A56E-C6743397E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DC8DEA-7152-4515-4BF0-3E83D34C6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748" y="2230939"/>
            <a:ext cx="5515633" cy="4318405"/>
          </a:xfrm>
          <a:prstGeom prst="rect">
            <a:avLst/>
          </a:prstGeom>
        </p:spPr>
      </p:pic>
      <p:pic>
        <p:nvPicPr>
          <p:cNvPr id="48" name="図 47">
            <a:extLst>
              <a:ext uri="{FF2B5EF4-FFF2-40B4-BE49-F238E27FC236}">
                <a16:creationId xmlns:a16="http://schemas.microsoft.com/office/drawing/2014/main" id="{CE31C513-0442-2953-151B-BB7226A7B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859" y="2230940"/>
            <a:ext cx="4585344" cy="432000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1C4571C-9914-4F4A-E996-A78AC12033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930"/>
          <a:stretch/>
        </p:blipFill>
        <p:spPr bwMode="auto">
          <a:xfrm>
            <a:off x="367960" y="1815156"/>
            <a:ext cx="2483273" cy="309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タイトル 58">
            <a:extLst>
              <a:ext uri="{FF2B5EF4-FFF2-40B4-BE49-F238E27FC236}">
                <a16:creationId xmlns:a16="http://schemas.microsoft.com/office/drawing/2014/main" id="{2D168878-BDA8-55CD-8420-A653A9E75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TPIM</a:t>
            </a:r>
            <a:r>
              <a:rPr lang="ja-JP" altLang="en-US"/>
              <a:t>超過スライス</a:t>
            </a:r>
            <a:r>
              <a:rPr lang="en-US" altLang="ja-JP"/>
              <a:t>/</a:t>
            </a:r>
            <a:r>
              <a:rPr lang="ja-JP" altLang="en-US"/>
              <a:t>実</a:t>
            </a:r>
            <a:r>
              <a:rPr lang="en-US" altLang="ja-JP"/>
              <a:t>TPIM</a:t>
            </a:r>
            <a:r>
              <a:rPr lang="ja-JP" altLang="en-US"/>
              <a:t>立ち位置模式図（</a:t>
            </a:r>
            <a:r>
              <a:rPr lang="en-US" altLang="ja-JP"/>
              <a:t>-1.72</a:t>
            </a:r>
            <a:r>
              <a:rPr lang="ja-JP" altLang="en-US"/>
              <a:t>乗基準）</a:t>
            </a:r>
          </a:p>
        </p:txBody>
      </p:sp>
      <p:sp>
        <p:nvSpPr>
          <p:cNvPr id="61" name="テキスト プレースホルダー 60">
            <a:extLst>
              <a:ext uri="{FF2B5EF4-FFF2-40B4-BE49-F238E27FC236}">
                <a16:creationId xmlns:a16="http://schemas.microsoft.com/office/drawing/2014/main" id="{62BBFF14-630C-B997-F113-E0B55D6A59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ja-JP"/>
              <a:t>TPIM</a:t>
            </a:r>
            <a:r>
              <a:rPr lang="ja-JP" altLang="en-US"/>
              <a:t>超過スライスに対して</a:t>
            </a:r>
            <a:r>
              <a:rPr lang="en-US" altLang="ja-JP" err="1"/>
              <a:t>TgtTPIM</a:t>
            </a:r>
            <a:r>
              <a:rPr lang="ja-JP" altLang="en-US"/>
              <a:t>は</a:t>
            </a:r>
            <a:r>
              <a:rPr lang="en-US" altLang="ja-JP"/>
              <a:t>MA11</a:t>
            </a:r>
            <a:r>
              <a:rPr lang="ja-JP" altLang="en-US"/>
              <a:t>で</a:t>
            </a:r>
            <a:r>
              <a:rPr lang="en-US" altLang="ja-JP"/>
              <a:t>0.9nm</a:t>
            </a:r>
            <a:r>
              <a:rPr lang="ja-JP" altLang="en-US"/>
              <a:t>、</a:t>
            </a:r>
            <a:r>
              <a:rPr lang="en-US" altLang="ja-JP"/>
              <a:t>M12</a:t>
            </a:r>
            <a:r>
              <a:rPr lang="ja-JP" altLang="en-US"/>
              <a:t>で</a:t>
            </a:r>
            <a:r>
              <a:rPr lang="en-US" altLang="ja-JP"/>
              <a:t>±0nm</a:t>
            </a:r>
            <a:r>
              <a:rPr lang="ja-JP" altLang="en-US"/>
              <a:t>で設計</a:t>
            </a: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4C359F0-F2A6-CD9F-65DC-D576088A7637}"/>
              </a:ext>
            </a:extLst>
          </p:cNvPr>
          <p:cNvGrpSpPr/>
          <p:nvPr/>
        </p:nvGrpSpPr>
        <p:grpSpPr>
          <a:xfrm rot="5400000">
            <a:off x="1956484" y="2515438"/>
            <a:ext cx="1774750" cy="978546"/>
            <a:chOff x="9570562" y="3451019"/>
            <a:chExt cx="1707836" cy="969526"/>
          </a:xfrm>
        </p:grpSpPr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D24D6F0E-2CFD-B055-A369-C530E40CE1DF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762BC9E3-6832-DD58-C45E-00A072B08CA6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6A2C296A-2E4D-A4F6-CD25-363D0F3BC6A1}"/>
              </a:ext>
            </a:extLst>
          </p:cNvPr>
          <p:cNvCxnSpPr>
            <a:cxnSpLocks/>
          </p:cNvCxnSpPr>
          <p:nvPr/>
        </p:nvCxnSpPr>
        <p:spPr>
          <a:xfrm>
            <a:off x="2285995" y="3893575"/>
            <a:ext cx="1188175" cy="0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574E460-A21D-E7CD-0B0C-4B31E8F42813}"/>
              </a:ext>
            </a:extLst>
          </p:cNvPr>
          <p:cNvGrpSpPr/>
          <p:nvPr/>
        </p:nvGrpSpPr>
        <p:grpSpPr>
          <a:xfrm rot="5400000">
            <a:off x="9251614" y="4106671"/>
            <a:ext cx="1774750" cy="978546"/>
            <a:chOff x="9570562" y="3451019"/>
            <a:chExt cx="1707836" cy="969526"/>
          </a:xfrm>
        </p:grpSpPr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FB30A4E7-85CE-AF5B-516D-26AC8CCB3E83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BCCAFB6D-B093-E5C8-F337-7A437875E40C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96136B6E-E733-50F5-7119-0E0BF86D2758}"/>
              </a:ext>
            </a:extLst>
          </p:cNvPr>
          <p:cNvGrpSpPr/>
          <p:nvPr/>
        </p:nvGrpSpPr>
        <p:grpSpPr>
          <a:xfrm rot="5400000">
            <a:off x="4516612" y="3060849"/>
            <a:ext cx="1774750" cy="978546"/>
            <a:chOff x="9570562" y="3451019"/>
            <a:chExt cx="1707836" cy="969526"/>
          </a:xfrm>
        </p:grpSpPr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A2507BFD-63DE-2F46-F4C5-21BBAEE4E038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D3355DA1-E7B1-A188-D0EA-D223610D874E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A30F96B0-A272-10B8-1C10-913A424C2B87}"/>
              </a:ext>
            </a:extLst>
          </p:cNvPr>
          <p:cNvGrpSpPr/>
          <p:nvPr/>
        </p:nvGrpSpPr>
        <p:grpSpPr>
          <a:xfrm rot="5400000">
            <a:off x="5695655" y="3792984"/>
            <a:ext cx="1774750" cy="978546"/>
            <a:chOff x="9570562" y="3451019"/>
            <a:chExt cx="1707836" cy="969526"/>
          </a:xfrm>
        </p:grpSpPr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B05DFDC7-E0B1-B8D1-9513-AD4E0F3774F1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A5F5D1A7-F8F1-9355-B7CC-7B209798DCDB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671FCCC8-D563-B1A2-F064-54FE7E03705A}"/>
              </a:ext>
            </a:extLst>
          </p:cNvPr>
          <p:cNvGrpSpPr/>
          <p:nvPr/>
        </p:nvGrpSpPr>
        <p:grpSpPr>
          <a:xfrm rot="5400000">
            <a:off x="10374091" y="4106672"/>
            <a:ext cx="1774750" cy="978546"/>
            <a:chOff x="9570562" y="3451019"/>
            <a:chExt cx="1707836" cy="969526"/>
          </a:xfrm>
        </p:grpSpPr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31FC3BF0-3741-AE2D-099A-898ED6AED124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FCEAA7AD-E60F-13EC-6DB7-47A153DEB1C3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85836FB-4C16-1814-EE4A-9517139CCC84}"/>
              </a:ext>
            </a:extLst>
          </p:cNvPr>
          <p:cNvSpPr txBox="1"/>
          <p:nvPr/>
        </p:nvSpPr>
        <p:spPr>
          <a:xfrm>
            <a:off x="1447009" y="3913822"/>
            <a:ext cx="2840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1"/>
                </a:solidFill>
              </a:rPr>
              <a:t>TPIM</a:t>
            </a:r>
            <a:r>
              <a:rPr kumimoji="1" lang="ja-JP" altLang="en-US" b="1" dirty="0">
                <a:solidFill>
                  <a:schemeClr val="accent1"/>
                </a:solidFill>
              </a:rPr>
              <a:t>超過スライス</a:t>
            </a:r>
            <a:r>
              <a:rPr kumimoji="1" lang="en-US" altLang="ja-JP" b="1" dirty="0">
                <a:solidFill>
                  <a:schemeClr val="accent1"/>
                </a:solidFill>
              </a:rPr>
              <a:t>@10^-4</a:t>
            </a:r>
            <a:endParaRPr kumimoji="1" lang="ja-JP" altLang="en-US" b="1" dirty="0">
              <a:solidFill>
                <a:schemeClr val="accent1"/>
              </a:solidFill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053B4D6-F142-9B6B-B21D-7543EFE6F096}"/>
              </a:ext>
            </a:extLst>
          </p:cNvPr>
          <p:cNvSpPr txBox="1"/>
          <p:nvPr/>
        </p:nvSpPr>
        <p:spPr>
          <a:xfrm>
            <a:off x="7341413" y="4595944"/>
            <a:ext cx="1965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1"/>
                </a:solidFill>
              </a:rPr>
              <a:t>TPIM</a:t>
            </a:r>
            <a:r>
              <a:rPr kumimoji="1" lang="ja-JP" altLang="en-US" b="1">
                <a:solidFill>
                  <a:schemeClr val="accent1"/>
                </a:solidFill>
              </a:rPr>
              <a:t>超過スライス</a:t>
            </a:r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5FC1356-A983-7EA4-8060-BB04667F02A3}"/>
              </a:ext>
            </a:extLst>
          </p:cNvPr>
          <p:cNvCxnSpPr>
            <a:cxnSpLocks/>
          </p:cNvCxnSpPr>
          <p:nvPr/>
        </p:nvCxnSpPr>
        <p:spPr>
          <a:xfrm>
            <a:off x="7143424" y="1656080"/>
            <a:ext cx="0" cy="3069865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644AE0B-7792-68BC-B1AA-92F18031322C}"/>
              </a:ext>
            </a:extLst>
          </p:cNvPr>
          <p:cNvCxnSpPr>
            <a:cxnSpLocks/>
          </p:cNvCxnSpPr>
          <p:nvPr/>
        </p:nvCxnSpPr>
        <p:spPr>
          <a:xfrm>
            <a:off x="11790173" y="1656080"/>
            <a:ext cx="0" cy="3819199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8050B17C-FF56-67FE-4CCA-060CE07631F4}"/>
              </a:ext>
            </a:extLst>
          </p:cNvPr>
          <p:cNvSpPr txBox="1"/>
          <p:nvPr/>
        </p:nvSpPr>
        <p:spPr>
          <a:xfrm>
            <a:off x="7878461" y="1810015"/>
            <a:ext cx="3625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00B050"/>
                </a:solidFill>
              </a:rPr>
              <a:t>PTS</a:t>
            </a:r>
            <a:r>
              <a:rPr kumimoji="1" lang="ja-JP" altLang="en-US" b="1">
                <a:solidFill>
                  <a:srgbClr val="00B050"/>
                </a:solidFill>
              </a:rPr>
              <a:t>（ライト時）で</a:t>
            </a:r>
            <a:r>
              <a:rPr kumimoji="1" lang="en-US" altLang="ja-JP" b="1" err="1">
                <a:solidFill>
                  <a:srgbClr val="00B050"/>
                </a:solidFill>
              </a:rPr>
              <a:t>Onthefly</a:t>
            </a:r>
            <a:r>
              <a:rPr kumimoji="1" lang="ja-JP" altLang="en-US" b="1">
                <a:solidFill>
                  <a:srgbClr val="00B050"/>
                </a:solidFill>
              </a:rPr>
              <a:t>を保障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E9DB191-2622-4A77-5181-695ED06F8A43}"/>
              </a:ext>
            </a:extLst>
          </p:cNvPr>
          <p:cNvCxnSpPr>
            <a:cxnSpLocks/>
          </p:cNvCxnSpPr>
          <p:nvPr/>
        </p:nvCxnSpPr>
        <p:spPr>
          <a:xfrm>
            <a:off x="3999992" y="3006127"/>
            <a:ext cx="0" cy="176671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FE4502E1-E0C9-1332-2DBB-63130E70507C}"/>
              </a:ext>
            </a:extLst>
          </p:cNvPr>
          <p:cNvSpPr txBox="1"/>
          <p:nvPr/>
        </p:nvSpPr>
        <p:spPr>
          <a:xfrm>
            <a:off x="9922746" y="3946408"/>
            <a:ext cx="369332" cy="1305807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kumimoji="1" lang="en-US" altLang="ja-JP" sz="1200" err="1"/>
              <a:t>Hd</a:t>
            </a:r>
            <a:r>
              <a:rPr kumimoji="1" lang="en-US" altLang="ja-JP" sz="1200"/>
              <a:t>/Zn</a:t>
            </a:r>
            <a:r>
              <a:rPr kumimoji="1" lang="ja-JP" altLang="en-US" sz="1200"/>
              <a:t>バラつき考慮</a:t>
            </a:r>
          </a:p>
        </p:txBody>
      </p: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82B87C11-0DFD-296D-7CB9-4B6ABE16C95B}"/>
              </a:ext>
            </a:extLst>
          </p:cNvPr>
          <p:cNvCxnSpPr>
            <a:cxnSpLocks/>
          </p:cNvCxnSpPr>
          <p:nvPr/>
        </p:nvCxnSpPr>
        <p:spPr>
          <a:xfrm>
            <a:off x="7149314" y="4780610"/>
            <a:ext cx="0" cy="1390954"/>
          </a:xfrm>
          <a:prstGeom prst="straightConnector1">
            <a:avLst/>
          </a:prstGeom>
          <a:ln w="38100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2182F68D-EFA0-F57B-A167-02EC179115FD}"/>
              </a:ext>
            </a:extLst>
          </p:cNvPr>
          <p:cNvCxnSpPr>
            <a:cxnSpLocks/>
          </p:cNvCxnSpPr>
          <p:nvPr/>
        </p:nvCxnSpPr>
        <p:spPr>
          <a:xfrm>
            <a:off x="11790173" y="5475279"/>
            <a:ext cx="0" cy="696285"/>
          </a:xfrm>
          <a:prstGeom prst="straightConnector1">
            <a:avLst/>
          </a:prstGeom>
          <a:ln w="38100">
            <a:solidFill>
              <a:schemeClr val="accent6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C8863719-663D-3E8B-2FEF-FA5A93358233}"/>
              </a:ext>
            </a:extLst>
          </p:cNvPr>
          <p:cNvSpPr txBox="1"/>
          <p:nvPr/>
        </p:nvSpPr>
        <p:spPr>
          <a:xfrm>
            <a:off x="8044023" y="5703657"/>
            <a:ext cx="3264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6"/>
                </a:solidFill>
              </a:rPr>
              <a:t>Read Retry</a:t>
            </a:r>
            <a:r>
              <a:rPr kumimoji="1" lang="ja-JP" altLang="en-US" b="1">
                <a:solidFill>
                  <a:schemeClr val="accent6"/>
                </a:solidFill>
              </a:rPr>
              <a:t>（リード時）で救済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F3214793-F110-6CEE-A939-CE59D4CDE09A}"/>
              </a:ext>
            </a:extLst>
          </p:cNvPr>
          <p:cNvSpPr txBox="1"/>
          <p:nvPr/>
        </p:nvSpPr>
        <p:spPr>
          <a:xfrm>
            <a:off x="542790" y="4898465"/>
            <a:ext cx="201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/>
              <a:t>TECC</a:t>
            </a:r>
            <a:r>
              <a:rPr kumimoji="1" lang="ja-JP" altLang="en-US" b="1"/>
              <a:t>訂正テーブル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DDEA9125-8544-4AB0-6B32-B4D7BC56ECCD}"/>
              </a:ext>
            </a:extLst>
          </p:cNvPr>
          <p:cNvSpPr txBox="1"/>
          <p:nvPr/>
        </p:nvSpPr>
        <p:spPr>
          <a:xfrm rot="16200000">
            <a:off x="3885684" y="1470379"/>
            <a:ext cx="369332" cy="93391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lang="ja-JP" altLang="en-US" sz="1200" b="1"/>
              <a:t>実</a:t>
            </a:r>
            <a:r>
              <a:rPr lang="en-US" altLang="ja-JP" sz="1200" b="1"/>
              <a:t>TPIM</a:t>
            </a:r>
            <a:r>
              <a:rPr lang="ja-JP" altLang="en-US" sz="1200" b="1"/>
              <a:t>分布</a:t>
            </a:r>
            <a:endParaRPr kumimoji="1" lang="ja-JP" altLang="en-US" sz="1200" b="1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FE67B3A-086E-F81D-393D-C3CF94401C83}"/>
              </a:ext>
            </a:extLst>
          </p:cNvPr>
          <p:cNvSpPr txBox="1"/>
          <p:nvPr/>
        </p:nvSpPr>
        <p:spPr>
          <a:xfrm rot="16200000">
            <a:off x="4999772" y="4864816"/>
            <a:ext cx="738664" cy="707886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en-US" altLang="ja-JP" sz="1200" b="1"/>
              <a:t>MA11</a:t>
            </a:r>
          </a:p>
          <a:p>
            <a:pPr algn="ctr"/>
            <a:r>
              <a:rPr kumimoji="1" lang="ja-JP" altLang="en-US" sz="1200" b="1"/>
              <a:t>最終設計</a:t>
            </a:r>
            <a:endParaRPr kumimoji="1" lang="en-US" altLang="ja-JP" sz="1200" b="1"/>
          </a:p>
          <a:p>
            <a:pPr algn="ctr"/>
            <a:r>
              <a:rPr lang="en-US" altLang="ja-JP" sz="1200" b="1"/>
              <a:t>Target</a:t>
            </a:r>
            <a:endParaRPr kumimoji="1" lang="ja-JP" altLang="en-US" sz="1200" b="1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61E3C92F-E09E-F290-FD4E-04758175902C}"/>
              </a:ext>
            </a:extLst>
          </p:cNvPr>
          <p:cNvSpPr txBox="1"/>
          <p:nvPr/>
        </p:nvSpPr>
        <p:spPr>
          <a:xfrm rot="16200000">
            <a:off x="6162898" y="4864013"/>
            <a:ext cx="738664" cy="709490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pPr algn="ctr"/>
            <a:r>
              <a:rPr lang="en-US" altLang="ja-JP" sz="1200" b="1"/>
              <a:t>MA11</a:t>
            </a:r>
          </a:p>
          <a:p>
            <a:pPr algn="ctr"/>
            <a:r>
              <a:rPr lang="ja-JP" altLang="en-US" sz="1200" b="1"/>
              <a:t>下限品</a:t>
            </a:r>
            <a:endParaRPr lang="en-US" altLang="ja-JP" sz="1200" b="1"/>
          </a:p>
          <a:p>
            <a:pPr algn="ctr"/>
            <a:r>
              <a:rPr kumimoji="1" lang="ja-JP" altLang="en-US" sz="1200" b="1"/>
              <a:t>トライアル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607D104-9695-437D-7A60-AA08AC16039B}"/>
              </a:ext>
            </a:extLst>
          </p:cNvPr>
          <p:cNvGrpSpPr/>
          <p:nvPr/>
        </p:nvGrpSpPr>
        <p:grpSpPr>
          <a:xfrm rot="5400000">
            <a:off x="3307634" y="3403962"/>
            <a:ext cx="1774750" cy="978546"/>
            <a:chOff x="9570562" y="3451019"/>
            <a:chExt cx="1707836" cy="969526"/>
          </a:xfrm>
        </p:grpSpPr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39D122FB-B93F-2954-1026-55B39677D329}"/>
                </a:ext>
              </a:extLst>
            </p:cNvPr>
            <p:cNvSpPr/>
            <p:nvPr/>
          </p:nvSpPr>
          <p:spPr>
            <a:xfrm>
              <a:off x="9570562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フリーフォーム: 図形 8">
              <a:extLst>
                <a:ext uri="{FF2B5EF4-FFF2-40B4-BE49-F238E27FC236}">
                  <a16:creationId xmlns:a16="http://schemas.microsoft.com/office/drawing/2014/main" id="{FF793181-391B-9052-7595-AB6A1D386A3A}"/>
                </a:ext>
              </a:extLst>
            </p:cNvPr>
            <p:cNvSpPr/>
            <p:nvPr/>
          </p:nvSpPr>
          <p:spPr>
            <a:xfrm flipH="1">
              <a:off x="10424480" y="3451019"/>
              <a:ext cx="853918" cy="969526"/>
            </a:xfrm>
            <a:custGeom>
              <a:avLst/>
              <a:gdLst>
                <a:gd name="connsiteX0" fmla="*/ 0 w 1453415"/>
                <a:gd name="connsiteY0" fmla="*/ 1650186 h 1650186"/>
                <a:gd name="connsiteX1" fmla="*/ 346510 w 1453415"/>
                <a:gd name="connsiteY1" fmla="*/ 1582810 h 1650186"/>
                <a:gd name="connsiteX2" fmla="*/ 741146 w 1453415"/>
                <a:gd name="connsiteY2" fmla="*/ 1294052 h 1650186"/>
                <a:gd name="connsiteX3" fmla="*/ 981777 w 1453415"/>
                <a:gd name="connsiteY3" fmla="*/ 629908 h 1650186"/>
                <a:gd name="connsiteX4" fmla="*/ 1174282 w 1453415"/>
                <a:gd name="connsiteY4" fmla="*/ 158271 h 1650186"/>
                <a:gd name="connsiteX5" fmla="*/ 1386038 w 1453415"/>
                <a:gd name="connsiteY5" fmla="*/ 13892 h 1650186"/>
                <a:gd name="connsiteX6" fmla="*/ 1453415 w 1453415"/>
                <a:gd name="connsiteY6" fmla="*/ 13892 h 165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3415" h="1650186">
                  <a:moveTo>
                    <a:pt x="0" y="1650186"/>
                  </a:moveTo>
                  <a:cubicBezTo>
                    <a:pt x="111493" y="1646176"/>
                    <a:pt x="222986" y="1642166"/>
                    <a:pt x="346510" y="1582810"/>
                  </a:cubicBezTo>
                  <a:cubicBezTo>
                    <a:pt x="470034" y="1523454"/>
                    <a:pt x="635268" y="1452869"/>
                    <a:pt x="741146" y="1294052"/>
                  </a:cubicBezTo>
                  <a:cubicBezTo>
                    <a:pt x="847024" y="1135235"/>
                    <a:pt x="909588" y="819205"/>
                    <a:pt x="981777" y="629908"/>
                  </a:cubicBezTo>
                  <a:cubicBezTo>
                    <a:pt x="1053966" y="440611"/>
                    <a:pt x="1106905" y="260940"/>
                    <a:pt x="1174282" y="158271"/>
                  </a:cubicBezTo>
                  <a:cubicBezTo>
                    <a:pt x="1241659" y="55602"/>
                    <a:pt x="1339516" y="37955"/>
                    <a:pt x="1386038" y="13892"/>
                  </a:cubicBezTo>
                  <a:cubicBezTo>
                    <a:pt x="1432560" y="-10171"/>
                    <a:pt x="1442987" y="1860"/>
                    <a:pt x="1453415" y="1389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DD66F372-EE0E-28FB-12AF-A80F456C57EB}"/>
              </a:ext>
            </a:extLst>
          </p:cNvPr>
          <p:cNvCxnSpPr>
            <a:cxnSpLocks/>
          </p:cNvCxnSpPr>
          <p:nvPr/>
        </p:nvCxnSpPr>
        <p:spPr>
          <a:xfrm>
            <a:off x="9960338" y="3708569"/>
            <a:ext cx="0" cy="176671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DE72B47-7286-9EE6-019A-DB2C42621D34}"/>
              </a:ext>
            </a:extLst>
          </p:cNvPr>
          <p:cNvSpPr txBox="1"/>
          <p:nvPr/>
        </p:nvSpPr>
        <p:spPr>
          <a:xfrm>
            <a:off x="3982952" y="3250626"/>
            <a:ext cx="369332" cy="1305807"/>
          </a:xfrm>
          <a:prstGeom prst="rect">
            <a:avLst/>
          </a:prstGeom>
          <a:noFill/>
        </p:spPr>
        <p:txBody>
          <a:bodyPr vert="vert" wrap="none" rtlCol="0">
            <a:spAutoFit/>
          </a:bodyPr>
          <a:lstStyle/>
          <a:p>
            <a:r>
              <a:rPr kumimoji="1" lang="en-US" altLang="ja-JP" sz="1200" err="1"/>
              <a:t>Hd</a:t>
            </a:r>
            <a:r>
              <a:rPr kumimoji="1" lang="en-US" altLang="ja-JP" sz="1200"/>
              <a:t>/Zn</a:t>
            </a:r>
            <a:r>
              <a:rPr kumimoji="1" lang="ja-JP" altLang="en-US" sz="1200"/>
              <a:t>バラつき考慮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125A1621-BE7B-C7F8-0C8F-5CF0E2646959}"/>
              </a:ext>
            </a:extLst>
          </p:cNvPr>
          <p:cNvCxnSpPr>
            <a:cxnSpLocks/>
          </p:cNvCxnSpPr>
          <p:nvPr/>
        </p:nvCxnSpPr>
        <p:spPr>
          <a:xfrm flipV="1">
            <a:off x="3675919" y="4772837"/>
            <a:ext cx="3626467" cy="7773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2CA3B6F-719F-B978-421B-8729016C3C30}"/>
              </a:ext>
            </a:extLst>
          </p:cNvPr>
          <p:cNvCxnSpPr>
            <a:cxnSpLocks/>
          </p:cNvCxnSpPr>
          <p:nvPr/>
        </p:nvCxnSpPr>
        <p:spPr>
          <a:xfrm>
            <a:off x="9422936" y="5490514"/>
            <a:ext cx="2497709" cy="0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3611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游ゴシック</vt:lpstr>
      <vt:lpstr>Aptos</vt:lpstr>
      <vt:lpstr>Aptos Display</vt:lpstr>
      <vt:lpstr>Arial</vt:lpstr>
      <vt:lpstr>Office Theme</vt:lpstr>
      <vt:lpstr>TPIM超過スライス/実TPIM立ち位置模式図（-1.72乗基準）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shakeer samanthapudi(ＴＳＩＰ)</dc:creator>
  <cp:lastModifiedBy>shakeer samanthapudi(ＴＳＩＰ)</cp:lastModifiedBy>
  <cp:revision>1</cp:revision>
  <dcterms:created xsi:type="dcterms:W3CDTF">2026-09-10T07:06:06Z</dcterms:created>
  <dcterms:modified xsi:type="dcterms:W3CDTF">2026-09-10T07:06:28Z</dcterms:modified>
</cp:coreProperties>
</file>